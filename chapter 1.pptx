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6" r:id="rId2"/>
    <p:sldId id="301" r:id="rId3"/>
    <p:sldId id="257" r:id="rId4"/>
    <p:sldId id="258" r:id="rId5"/>
    <p:sldId id="260" r:id="rId6"/>
    <p:sldId id="259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3" r:id="rId29"/>
    <p:sldId id="282" r:id="rId30"/>
    <p:sldId id="284" r:id="rId31"/>
    <p:sldId id="288" r:id="rId32"/>
    <p:sldId id="285" r:id="rId33"/>
    <p:sldId id="286" r:id="rId34"/>
    <p:sldId id="287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447" autoAdjust="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9E765E-23FD-4374-84D7-5815BE992FE7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F501DB-4FA3-4FBD-8883-3B50245E1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247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F501DB-4FA3-4FBD-8883-3B50245E1A1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592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F501DB-4FA3-4FBD-8883-3B50245E1A1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64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F501DB-4FA3-4FBD-8883-3B50245E1A1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3648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F501DB-4FA3-4FBD-8883-3B50245E1A1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7442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F501DB-4FA3-4FBD-8883-3B50245E1A1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183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F501DB-4FA3-4FBD-8883-3B50245E1A1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864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F501DB-4FA3-4FBD-8883-3B50245E1A1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7997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Renaissance (</a:t>
            </a:r>
            <a:r>
              <a:rPr lang="en-US" dirty="0" err="1"/>
              <a:t>daur</a:t>
            </a:r>
            <a:r>
              <a:rPr lang="en-US" dirty="0"/>
              <a:t>-e-</a:t>
            </a:r>
            <a:r>
              <a:rPr lang="en-US" dirty="0" err="1"/>
              <a:t>jadid</a:t>
            </a:r>
            <a:r>
              <a:rPr lang="en-US" dirty="0"/>
              <a:t>)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F501DB-4FA3-4FBD-8883-3B50245E1A1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2050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Slide 10: Rationalism vs. Empiricism</a:t>
            </a:r>
          </a:p>
          <a:p>
            <a:r>
              <a:rPr lang="en-US" b="1" dirty="0"/>
              <a:t>Speaker Notes:</a:t>
            </a:r>
            <a:endParaRPr lang="en-US" dirty="0"/>
          </a:p>
          <a:p>
            <a:pPr lvl="0"/>
            <a:r>
              <a:rPr lang="en-US" b="1" dirty="0"/>
              <a:t>Opening:</a:t>
            </a:r>
            <a:r>
              <a:rPr lang="en-US" dirty="0"/>
              <a:t> </a:t>
            </a:r>
            <a:r>
              <a:rPr lang="en-US" i="1" dirty="0"/>
              <a:t>"Yeh slide </a:t>
            </a:r>
            <a:r>
              <a:rPr lang="en-US" i="1" dirty="0" err="1"/>
              <a:t>aap</a:t>
            </a:r>
            <a:r>
              <a:rPr lang="en-US" i="1" dirty="0"/>
              <a:t> </a:t>
            </a:r>
            <a:r>
              <a:rPr lang="en-US" i="1" dirty="0" err="1"/>
              <a:t>ke</a:t>
            </a:r>
            <a:r>
              <a:rPr lang="en-US" i="1" dirty="0"/>
              <a:t> exam aur concepts </a:t>
            </a:r>
            <a:r>
              <a:rPr lang="en-US" i="1" dirty="0" err="1"/>
              <a:t>dono</a:t>
            </a:r>
            <a:r>
              <a:rPr lang="en-US" i="1" dirty="0"/>
              <a:t> </a:t>
            </a:r>
            <a:r>
              <a:rPr lang="en-US" i="1" dirty="0" err="1"/>
              <a:t>ke</a:t>
            </a:r>
            <a:r>
              <a:rPr lang="en-US" i="1" dirty="0"/>
              <a:t> </a:t>
            </a:r>
            <a:r>
              <a:rPr lang="en-US" i="1" dirty="0" err="1"/>
              <a:t>liye</a:t>
            </a:r>
            <a:r>
              <a:rPr lang="en-US" i="1" dirty="0"/>
              <a:t> </a:t>
            </a:r>
            <a:r>
              <a:rPr lang="en-US" i="1" dirty="0" err="1"/>
              <a:t>bohot</a:t>
            </a:r>
            <a:r>
              <a:rPr lang="en-US" i="1" dirty="0"/>
              <a:t> important </a:t>
            </a:r>
            <a:r>
              <a:rPr lang="en-US" i="1" dirty="0" err="1"/>
              <a:t>hai</a:t>
            </a:r>
            <a:r>
              <a:rPr lang="en-US" i="1" dirty="0"/>
              <a:t>: Rationalism vs Empiricism."</a:t>
            </a:r>
            <a:endParaRPr lang="en-US" dirty="0"/>
          </a:p>
          <a:p>
            <a:pPr lvl="0"/>
            <a:r>
              <a:rPr lang="en-US" b="1" dirty="0"/>
              <a:t>Core Explanation:</a:t>
            </a:r>
            <a:endParaRPr lang="en-US" dirty="0"/>
          </a:p>
          <a:p>
            <a:pPr lvl="1"/>
            <a:r>
              <a:rPr lang="en-US" i="1" dirty="0"/>
              <a:t>"Rationalist (Plato, Descartes) </a:t>
            </a:r>
            <a:r>
              <a:rPr lang="en-US" i="1" dirty="0" err="1"/>
              <a:t>kehte</a:t>
            </a:r>
            <a:r>
              <a:rPr lang="en-US" i="1" dirty="0"/>
              <a:t> </a:t>
            </a:r>
            <a:r>
              <a:rPr lang="en-US" i="1" dirty="0" err="1"/>
              <a:t>hain</a:t>
            </a:r>
            <a:r>
              <a:rPr lang="en-US" i="1" dirty="0"/>
              <a:t> </a:t>
            </a:r>
            <a:r>
              <a:rPr lang="en-US" i="1" dirty="0" err="1"/>
              <a:t>ke</a:t>
            </a:r>
            <a:r>
              <a:rPr lang="en-US" i="1" dirty="0"/>
              <a:t> </a:t>
            </a:r>
            <a:r>
              <a:rPr lang="en-US" i="1" dirty="0" err="1"/>
              <a:t>ilm</a:t>
            </a:r>
            <a:r>
              <a:rPr lang="en-US" i="1" dirty="0"/>
              <a:t> (knowledge) pure logic aur mathematics se </a:t>
            </a:r>
            <a:r>
              <a:rPr lang="en-US" i="1" dirty="0" err="1"/>
              <a:t>aata</a:t>
            </a:r>
            <a:r>
              <a:rPr lang="en-US" i="1" dirty="0"/>
              <a:t> </a:t>
            </a:r>
            <a:r>
              <a:rPr lang="en-US" i="1" dirty="0" err="1"/>
              <a:t>hai</a:t>
            </a:r>
            <a:r>
              <a:rPr lang="en-US" i="1" dirty="0"/>
              <a:t>. Classical Rule-Based AI is par bani </a:t>
            </a:r>
            <a:r>
              <a:rPr lang="en-US" i="1" dirty="0" err="1"/>
              <a:t>hai</a:t>
            </a:r>
            <a:r>
              <a:rPr lang="en-US" i="1" dirty="0"/>
              <a:t>."</a:t>
            </a:r>
            <a:endParaRPr lang="en-US" dirty="0"/>
          </a:p>
          <a:p>
            <a:pPr lvl="1"/>
            <a:r>
              <a:rPr lang="en-US" i="1" dirty="0"/>
              <a:t>"Empiricists (Aristotle, Hume) </a:t>
            </a:r>
            <a:r>
              <a:rPr lang="en-US" i="1" dirty="0" err="1"/>
              <a:t>kehte</a:t>
            </a:r>
            <a:r>
              <a:rPr lang="en-US" i="1" dirty="0"/>
              <a:t> </a:t>
            </a:r>
            <a:r>
              <a:rPr lang="en-US" i="1" dirty="0" err="1"/>
              <a:t>hain</a:t>
            </a:r>
            <a:r>
              <a:rPr lang="en-US" i="1" dirty="0"/>
              <a:t> </a:t>
            </a:r>
            <a:r>
              <a:rPr lang="en-US" i="1" dirty="0" err="1"/>
              <a:t>ke</a:t>
            </a:r>
            <a:r>
              <a:rPr lang="en-US" i="1" dirty="0"/>
              <a:t> </a:t>
            </a:r>
            <a:r>
              <a:rPr lang="en-US" i="1" dirty="0" err="1"/>
              <a:t>ilm</a:t>
            </a:r>
            <a:r>
              <a:rPr lang="en-US" i="1" dirty="0"/>
              <a:t> sensory experience aur observation se </a:t>
            </a:r>
            <a:r>
              <a:rPr lang="en-US" i="1" dirty="0" err="1"/>
              <a:t>aata</a:t>
            </a:r>
            <a:r>
              <a:rPr lang="en-US" i="1" dirty="0"/>
              <a:t> </a:t>
            </a:r>
            <a:r>
              <a:rPr lang="en-US" i="1" dirty="0" err="1"/>
              <a:t>hai</a:t>
            </a:r>
            <a:r>
              <a:rPr lang="en-US" i="1" dirty="0"/>
              <a:t>. Modern Machine Learning aur Neural Networks is par bane </a:t>
            </a:r>
            <a:r>
              <a:rPr lang="en-US" i="1" dirty="0" err="1"/>
              <a:t>hain</a:t>
            </a:r>
            <a:r>
              <a:rPr lang="en-US" i="1" dirty="0"/>
              <a:t> kyun </a:t>
            </a:r>
            <a:r>
              <a:rPr lang="en-US" i="1" dirty="0" err="1"/>
              <a:t>ke</a:t>
            </a:r>
            <a:r>
              <a:rPr lang="en-US" i="1" dirty="0"/>
              <a:t> wo data </a:t>
            </a:r>
            <a:r>
              <a:rPr lang="en-US" i="1" dirty="0" err="1"/>
              <a:t>dekh</a:t>
            </a:r>
            <a:r>
              <a:rPr lang="en-US" i="1" dirty="0"/>
              <a:t> </a:t>
            </a:r>
            <a:r>
              <a:rPr lang="en-US" i="1" dirty="0" err="1"/>
              <a:t>kar</a:t>
            </a:r>
            <a:r>
              <a:rPr lang="en-US" i="1" dirty="0"/>
              <a:t> </a:t>
            </a:r>
            <a:r>
              <a:rPr lang="en-US" i="1" dirty="0" err="1"/>
              <a:t>sikhte</a:t>
            </a:r>
            <a:r>
              <a:rPr lang="en-US" i="1" dirty="0"/>
              <a:t> </a:t>
            </a:r>
            <a:r>
              <a:rPr lang="en-US" i="1" dirty="0" err="1"/>
              <a:t>hain</a:t>
            </a:r>
            <a:r>
              <a:rPr lang="en-US" i="1" dirty="0"/>
              <a:t>."</a:t>
            </a:r>
            <a:endParaRPr lang="en-US" dirty="0"/>
          </a:p>
          <a:p>
            <a:pPr lvl="0"/>
            <a:r>
              <a:rPr lang="en-US" b="1" dirty="0"/>
              <a:t>Class Interaction:</a:t>
            </a:r>
            <a:r>
              <a:rPr lang="en-US" dirty="0"/>
              <a:t> </a:t>
            </a:r>
            <a:r>
              <a:rPr lang="en-US" i="1" dirty="0"/>
              <a:t>"</a:t>
            </a:r>
            <a:r>
              <a:rPr lang="en-US" i="1" dirty="0" err="1"/>
              <a:t>Aap</a:t>
            </a:r>
            <a:r>
              <a:rPr lang="en-US" i="1" dirty="0"/>
              <a:t> </a:t>
            </a:r>
            <a:r>
              <a:rPr lang="en-US" i="1" dirty="0" err="1"/>
              <a:t>ke</a:t>
            </a:r>
            <a:r>
              <a:rPr lang="en-US" i="1" dirty="0"/>
              <a:t> khayal </a:t>
            </a:r>
            <a:r>
              <a:rPr lang="en-US" i="1" dirty="0" err="1"/>
              <a:t>mein</a:t>
            </a:r>
            <a:r>
              <a:rPr lang="en-US" i="1" dirty="0"/>
              <a:t> </a:t>
            </a:r>
            <a:r>
              <a:rPr lang="en-US" i="1" dirty="0" err="1"/>
              <a:t>insani</a:t>
            </a:r>
            <a:r>
              <a:rPr lang="en-US" i="1" dirty="0"/>
              <a:t> bacha </a:t>
            </a:r>
            <a:r>
              <a:rPr lang="en-US" i="1" dirty="0" err="1"/>
              <a:t>kaise</a:t>
            </a:r>
            <a:r>
              <a:rPr lang="en-US" i="1" dirty="0"/>
              <a:t> </a:t>
            </a:r>
            <a:r>
              <a:rPr lang="en-US" i="1" dirty="0" err="1"/>
              <a:t>sikhta</a:t>
            </a:r>
            <a:r>
              <a:rPr lang="en-US" i="1" dirty="0"/>
              <a:t> </a:t>
            </a:r>
            <a:r>
              <a:rPr lang="en-US" i="1" dirty="0" err="1"/>
              <a:t>hai</a:t>
            </a:r>
            <a:r>
              <a:rPr lang="en-US" i="1" dirty="0"/>
              <a:t>? Logic se </a:t>
            </a:r>
            <a:r>
              <a:rPr lang="en-US" i="1" dirty="0" err="1"/>
              <a:t>ya</a:t>
            </a:r>
            <a:r>
              <a:rPr lang="en-US" i="1" dirty="0"/>
              <a:t> </a:t>
            </a:r>
            <a:r>
              <a:rPr lang="en-US" i="1" dirty="0" err="1"/>
              <a:t>tajurbe</a:t>
            </a:r>
            <a:r>
              <a:rPr lang="en-US" i="1" dirty="0"/>
              <a:t> (experience) se?"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F501DB-4FA3-4FBD-8883-3B50245E1A1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281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F6FF3-1873-8C81-569B-478637A6FF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95310B-32D8-8FB0-A438-672C360797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5663DD-B82B-B555-E56C-32F682F84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3637F-3D11-4342-8341-D9A40B37EA1A}" type="datetime1">
              <a:rPr lang="en-US" smtClean="0"/>
              <a:t>27-Oct-26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47E96-E89B-CD4D-2ABF-4C25CE802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F020CC-E86A-7CE3-D7E2-5AF4F22E5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057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8B0D8-8547-511A-33F5-5DDD6F15A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5D90F-A0B4-3200-B20A-0DC368047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6518B-379E-38DC-8E7E-D551417A2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66E44-2B5D-43EA-99FB-859488F963B9}" type="datetime1">
              <a:rPr lang="en-US" smtClean="0"/>
              <a:t>27-Oct-26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A5CD2-5378-A69E-1802-080F29728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BCA0FE-8E99-A5E2-5722-9C799EFB9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030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67210-F9CF-9E3F-15EF-61B53EE43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93600C-0A68-9B79-0BA3-2B3B27F9FA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432D27-EBB8-F5BA-4114-E21C42332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B3C48-8E56-46A2-A448-22B09B33644C}" type="datetime1">
              <a:rPr lang="en-US" smtClean="0"/>
              <a:t>27-Oct-26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FC4C3-9585-7A75-9280-A5BBC645C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BF73E-896D-47D5-1FF9-F5D308CC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081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341C5-50E8-12E7-0FAD-475B926C5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57D6C-689D-8B15-CB13-884988964F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885229-2784-90F7-A551-5124B01EEE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66EBAD-2952-A06B-E2A0-BCE14338B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6C27D-6290-4945-895F-B784CFC63C58}" type="datetime1">
              <a:rPr lang="en-US" smtClean="0"/>
              <a:t>27-Oct-26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A5793C-550E-77E9-F82C-00741C7DF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689D75-C9D9-73A3-8343-88527A8F9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878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2AF2B-7DD2-8234-D080-F0A21D0CF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3546B-352C-18D4-3F52-1A23A7900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A85D51-3DBE-DEB7-737A-FDA83B5A1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6CF28C-6DD9-3EB9-78D9-579F97E054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3E33F8-7819-AEEC-573F-82C695B7E0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BFB58D-FCAF-DD1D-9CCE-A3C1B4DE5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BEDB6-5DC7-4DCE-9C14-C6CCC8C9A77B}" type="datetime1">
              <a:rPr lang="en-US" smtClean="0"/>
              <a:t>27-Oct-26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CA6611-A71D-FCCB-550B-97F8B67C2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3CD08F-B25E-06DA-7689-9BB1F0BEF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767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36268-0A77-B2DB-FAE7-F45BC6DC1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3D91FE-E25F-D883-16A6-78CB42F11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A849F-1A1A-4DFB-A99E-DB8A520A3746}" type="datetime1">
              <a:rPr lang="en-US" smtClean="0"/>
              <a:t>27-Oct-26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DF34E3-BC30-FB11-94F9-42B23BE07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A48185-2562-B923-A93F-CD83DE5C5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970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E82542-C423-ED06-C4E8-C76B084E0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B5C5F-A16C-41F2-892C-5A1FB87947F8}" type="datetime1">
              <a:rPr lang="en-US" smtClean="0"/>
              <a:t>27-Oct-26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879737-38D4-DEF4-88C9-881DFA3F3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3C9F00-6847-C8BE-00D6-FC5192352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698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DBA8A-E4CD-F7FF-88C6-75045B042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FEB69-F3E1-F561-C193-A03C87A04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4439B-89A8-06FA-D9B8-ECA762F474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0079B8-5177-5A76-32CC-B61063089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61E42-6793-4945-9999-43338A885A80}" type="datetime1">
              <a:rPr lang="en-US" smtClean="0"/>
              <a:t>27-Oct-26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203980-E37D-AA71-0D91-19A791154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4AB7DF-39D5-B9E3-75EE-8B8DB380A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3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E3A90-4D81-CBA1-6BD0-FDB114AD4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663350-AE73-429C-0B35-4DDB81EF9B3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2ACB06-20C1-BF1F-44C9-BD6853D39B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AB3826-FC0E-731C-2E43-464F69E30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C3F55-0CF2-4432-B56F-517A2E399A09}" type="datetime1">
              <a:rPr lang="en-US" smtClean="0"/>
              <a:t>27-Oct-26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52228E-4D26-E529-6736-5AB349231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30135F-8106-7FAC-2845-15CD7197B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531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704DE-0FA1-DC37-A976-78A7AB911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D44D14-8B1C-9AF8-5484-F529360D83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F505D-4F09-540F-745F-12FA8B2D6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E5945-B229-415D-8523-15E09F3A289F}" type="datetime1">
              <a:rPr lang="en-US" smtClean="0"/>
              <a:t>27-Oct-26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C5D80-FDF5-AF8B-DE36-5AA8A0096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1161C-917B-CD72-8EBD-04168443D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41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BD38B7-8A04-81A5-F005-FC5A2A8F58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0851D4-8B3F-C055-0FA6-B16547EDC5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83046-2C4A-8C3B-FADE-E2A8C3296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177EE-540E-4977-AA13-1223277E16C4}" type="datetime1">
              <a:rPr lang="en-US" smtClean="0"/>
              <a:t>27-Oct-26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3B9F3-D466-3E61-43B5-798B9F296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0E87C-94C0-74AA-FEE8-DC0DF6707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374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E7E3A9-1A5E-91F9-54CB-88A2E9D7D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B4AF10-E74F-91FB-57BD-150517FB7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6DF47-E12D-1255-C04C-1D6A149DDE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BD3F90-4AF5-4F2C-B4B9-4968549A3E47}" type="datetime1">
              <a:rPr lang="en-US" smtClean="0"/>
              <a:t>27-Oct-26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531E7-9DAF-3227-4E6F-1D1C153E3E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PRESTON UNIVERSITY KOHAT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31F6B-315B-DF20-6674-6600CF3788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00C929-D44F-4CCB-B3E2-AC0C1BBE9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926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bstract picture of the brain made up of patterns">
            <a:extLst>
              <a:ext uri="{FF2B5EF4-FFF2-40B4-BE49-F238E27FC236}">
                <a16:creationId xmlns:a16="http://schemas.microsoft.com/office/drawing/2014/main" id="{671A6F3B-723F-FD2E-3948-46058A44AEC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 t="3865" r="9797" b="5227"/>
          <a:stretch/>
        </p:blipFill>
        <p:spPr>
          <a:xfrm>
            <a:off x="0" y="10"/>
            <a:ext cx="7271657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2B8A37-29D2-939B-E227-A8D245759C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91400" y="2649310"/>
            <a:ext cx="4691743" cy="2217057"/>
          </a:xfrm>
        </p:spPr>
        <p:txBody>
          <a:bodyPr>
            <a:noAutofit/>
          </a:bodyPr>
          <a:lstStyle/>
          <a:p>
            <a:b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ROOTS AND SCOPE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79E9A8-4A3F-95E5-3B75-F832E32350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91400" y="5397500"/>
            <a:ext cx="4299857" cy="1045028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Instructor : GUL E ARZOO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EA95F8C-D011-1D18-E439-38A26105A316}"/>
              </a:ext>
            </a:extLst>
          </p:cNvPr>
          <p:cNvSpPr txBox="1">
            <a:spLocks/>
          </p:cNvSpPr>
          <p:nvPr/>
        </p:nvSpPr>
        <p:spPr>
          <a:xfrm>
            <a:off x="7244442" y="1396094"/>
            <a:ext cx="4593771" cy="147864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Intelligence: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9D8C69C-F497-1BAB-8627-575164D133A9}"/>
              </a:ext>
            </a:extLst>
          </p:cNvPr>
          <p:cNvSpPr txBox="1">
            <a:spLocks/>
          </p:cNvSpPr>
          <p:nvPr/>
        </p:nvSpPr>
        <p:spPr>
          <a:xfrm>
            <a:off x="7271657" y="336101"/>
            <a:ext cx="4691743" cy="100284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PART-I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3FCD89-EE57-DC21-3651-4E59F9537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F1BE74-8AC8-322D-E46B-89C700F84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752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6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9B553-FA25-D310-630A-C49A45829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1: What We Will Cover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3E2FB-08DA-6ED2-1F4A-12AE62AFE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175171" cy="4351338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Textbook: Artificial Intelligence by George F. Luger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Philosophical Roots &amp; History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Rationalism vs. Empiricism, formal logic, and the Turing Test.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Key AI Application Domains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 playing, expert systems, NLU, robotics, and machine learning.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Bio-AI &amp; Core Characteristics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networks, genetic algorithms, and the 8 unifying features of AI.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C23088-7450-D0DE-343F-64FFDF531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B9F1D3-5A08-ACD0-A625-0FF83DD2C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1B8C66-6817-2574-7EE6-F59E6E3436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4979" y="2002445"/>
            <a:ext cx="3191295" cy="3997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512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98D2FB-4454-805B-86E2-7ED5E63D4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56B0C5-CC4F-4FF5-8D3D-2F1D3105F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850FDC-58B4-746B-D769-75402EBE06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276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19A9A-2EB4-2FE5-BCF8-D3E5E2345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007" y="217487"/>
            <a:ext cx="11644993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Intelligence: An Attempted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4C564-E84B-960E-F88D-D974E151C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3050"/>
            <a:ext cx="4757057" cy="4890407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(AI) is a branch of computer science concerned with the automation of intelligent behavior.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as a Branch of Computer Science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is built on three fundamental foundations: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Representation: Structures used to store and organize knowledge.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Algorithms: Procedures used to process knowledge and solve problems.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Languages and Techniques: Tools used to implement intelligent systems.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AI Applications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understanding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mathematical theorem proving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diagnosis and prediction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of gene expression data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FAE741-C973-9979-5479-2EC9CC4A3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7BE39-6E23-BC12-82FC-7485006C2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4B9C00-8CFE-3742-5B03-E3E84CD08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3697" y="1543050"/>
            <a:ext cx="6107304" cy="463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595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63ED8-5C8B-26E1-9C47-447B8678C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Intelligence: An Attempted Definition (</a:t>
            </a:r>
            <a:r>
              <a:rPr lang="en-US" dirty="0"/>
              <a:t>Challenges in Defining Artificial Intelligence)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80911-EF10-0864-AE95-9D73015B2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3062"/>
            <a:ext cx="10730948" cy="4121634"/>
          </a:xfrm>
        </p:spPr>
        <p:txBody>
          <a:bodyPr>
            <a:noAutofit/>
          </a:bodyPr>
          <a:lstStyle/>
          <a:p>
            <a:r>
              <a:rPr lang="en-US" sz="16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Why Is AI Difficult to Define?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 itself is not fully understood. Researchers continue to investigate fundamental questions:</a:t>
            </a:r>
          </a:p>
          <a:p>
            <a:pPr lvl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Nature of Intelligence: Is intelligence one ability or a combination of different abilities?</a:t>
            </a:r>
          </a:p>
          <a:p>
            <a:pPr lvl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Learning: How do humans acquire knowledge, and how does learning occur?</a:t>
            </a:r>
          </a:p>
          <a:p>
            <a:pPr lvl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Creativity and Intuition: Can computers demonstrate creativity and intuitive reasoning?</a:t>
            </a:r>
          </a:p>
          <a:p>
            <a:pPr lvl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Representation: How is knowledge represented in the human brain?</a:t>
            </a:r>
          </a:p>
          <a:p>
            <a:pPr lvl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vs. Machine Intelligence: Must AI imitate human intelligence, or can machines use different approaches?</a:t>
            </a:r>
          </a:p>
          <a:p>
            <a:r>
              <a:rPr lang="en-US" sz="16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The Engineering Approach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solving the entire problem of general intelligence, researchers often develop specialized intelligent systems, such as diagnostic tools, prediction systems, and automated reasoning applications.</a:t>
            </a:r>
          </a:p>
          <a:p>
            <a:r>
              <a:rPr lang="en-US" sz="16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 Practical Definition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can be understood as the collection of problems and methodologies studied by AI researchers.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1784CB-839A-77A2-4931-5DFA735DE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DF4BD3-A48A-0621-7D0E-81E7C7C51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2672DA-B890-F2D6-E61C-A56350936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2765" y="2137950"/>
            <a:ext cx="2246240" cy="1589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401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1C945-1078-F67C-F363-83377F325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20" y="320675"/>
            <a:ext cx="11983279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AI: EARLY HISTORY AND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385A5-0DC5-A5BF-DDB2-693E93968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06617" cy="4351338"/>
          </a:xfrm>
        </p:spPr>
        <p:txBody>
          <a:bodyPr>
            <a:normAutofit fontScale="47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Historical Roots of Artificial Intelligence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Prometheus: In Greek mythology, Prometheus gave humanity fire and knowledge, symbolizing the power of intelligence and technological progress.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Quest for Knowledge: Stories such as Eden and Prometheus reflect historical fears that pursuing knowledge may have dangerous consequences.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Mary Shelley's Frankenstein (1818): Explored the possibility of creating life through scientific knowledge, experimentation, and electricity.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From Mythology to Scientific Thinking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discoveries encouraged people to believe that the mysteries of life and intelligence could be studied systematically.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Nature and intelligence increasingly became subjects of scientific investigation rather than matters beyond human understanding.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nineteenth-century science could not create a fully intelligent agent, it helped establish the foundations for future AI research.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: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emerged from humanity's long-standing desire to understand intelligence, acquire knowledge, and develop machines capable of intelligent behavior.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70EBA4-72FD-D401-8845-30E4571DF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9E7D0A-1339-59F9-CD44-B33D5731C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2685F4-4CC7-3608-80F1-C5E4725DE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8561" y="1966344"/>
            <a:ext cx="5721644" cy="3283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643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675AD-E27D-5371-FEF3-D26CBDDB5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Aristotle — The Philosophical Foundations of AI: A Brief History of the Foundations for AI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D0DD4-0286-449B-96CA-B07B913BC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5681870" cy="5032375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en-US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1. Aristotle and the Study of Knowledge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Aristotle explored how humans understand the world and how knowledge can be established through logical reasoning.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Matter and Form: He distinguished the material of an object from its form or structure. This distinction provides a philosophical connection to symbolic computing and data abstraction.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 and Reasoning: Aristotle studied how conclusions can be derived from known facts using logical relationships.</a:t>
            </a:r>
          </a:p>
          <a:p>
            <a:pPr algn="just"/>
            <a:r>
              <a:rPr lang="en-US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Example of Deductive Reasoning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Premise 1: </a:t>
            </a:r>
            <a:r>
              <a:rPr lang="en-US" sz="3800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All humans are mortal.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Premise 2: </a:t>
            </a:r>
            <a:r>
              <a:rPr lang="en-US" sz="4500" dirty="0">
                <a:solidFill>
                  <a:schemeClr val="bg1"/>
                </a:solidFill>
                <a:highlight>
                  <a:srgbClr val="8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Socrates is a human.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 Socrates is mortal.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Relevance to AI: Logical reasoning and the representation of knowledge are fundamental ideas behind symbolic AI and automated reasoning systems.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50A6C6-98C4-BA31-2E12-5FA37674F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830266-3C62-568D-CCCD-863862554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28FDFB-5E45-0EC9-06E5-2C4D80A281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323" y="2308838"/>
            <a:ext cx="5334274" cy="303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317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7D3BF-9C60-0E7C-381B-E9813515D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Brief History of the Foundations for AI (Scientific Method and Concept Learning)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43E7D-D7F4-6346-5557-FFBDBD93B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104" y="1825625"/>
            <a:ext cx="6152322" cy="4667250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From Philosophy to Scientific Investigation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Renaissance: Science increasingly became a systematic way to understand natural phenomena through observation, mathematics, and analysis.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Copernicus and Galileo: Their work demonstrated that appearances and traditional beliefs could differ from scientific explanations of the world.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Francis Bacon (1620): In Novum Organum, Bacon described a systematic approach to identifying the essential features of a concept by examining positive and negative examples.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Bacon’s Approach to Concept Learning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examples of the concept.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and record their features.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Examine negative examples, particularly those that differ in only a few features.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which features distinguish the concept from other cases.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 to Modern AI: Luger relates Bacon’s approach to concept learning methods such as Version Space Search and to the BACON program, which induced scientific laws from data.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A2C770-9170-406C-678A-89245DBAC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F8E9B2-69CB-5272-0E73-E5036ED6F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8E3916-F38B-4C4F-553C-0D4EE325C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2088" y="2260382"/>
            <a:ext cx="5164625" cy="317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4805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F9C37-3DC0-2D1B-AB3E-9FA200166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Brief History of the Foundations for AI (Early Computing Machines and the Nature of Mind)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C8D5E-E229-24DD-DAEE-33A2A3603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6162981" cy="4530725"/>
          </a:xfrm>
        </p:spPr>
        <p:txBody>
          <a:bodyPr>
            <a:noAutofit/>
          </a:bodyPr>
          <a:lstStyle/>
          <a:p>
            <a:pPr algn="just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Mechanizing Calculation and Reasoning</a:t>
            </a:r>
          </a:p>
          <a:p>
            <a:pPr lvl="0" algn="just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John Napier (1614): Developed logarithms that simplified mathematical calculations.</a:t>
            </a:r>
          </a:p>
          <a:p>
            <a:pPr lvl="0" algn="just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Wilhelm Schickard (1623): Designed a calculating clock for addition and subtraction.</a:t>
            </a:r>
          </a:p>
          <a:p>
            <a:pPr lvl="0" algn="just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Blaise Pascal (1642): Created the Pascaline, a mechanical calculator for arithmetic operations.</a:t>
            </a:r>
          </a:p>
          <a:p>
            <a:pPr lvl="0" algn="just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Gottfried Wilhelm Leibniz (1694): Developed a calculating machine capable of multiplication and division and envisioned mechanized logical reasoning.</a:t>
            </a:r>
          </a:p>
          <a:p>
            <a:pPr algn="just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René Descartes and Thomas Hobbes</a:t>
            </a:r>
          </a:p>
          <a:p>
            <a:pPr lvl="0" algn="just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Descartes explored the relationship between the mind and the physical world, raising questions about the nature of thought.</a:t>
            </a:r>
          </a:p>
          <a:p>
            <a:pPr lvl="0" algn="just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Hobbes proposed a computational view of reasoning, connecting thought with calculation.</a:t>
            </a:r>
          </a:p>
          <a:p>
            <a:pPr algn="just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Relevance to AI</a:t>
            </a:r>
          </a:p>
          <a:p>
            <a:pPr algn="just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developments established two important ideas:</a:t>
            </a:r>
          </a:p>
          <a:p>
            <a:pPr lvl="0" algn="just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processes traditionally requiring human skill can be automated.</a:t>
            </a:r>
          </a:p>
          <a:p>
            <a:pPr lvl="0" algn="just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Reasoning may be studied through formal systems and computational procedures.</a:t>
            </a:r>
          </a:p>
          <a:p>
            <a:pPr algn="just"/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432957-6D94-BE53-F3F6-121278593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D9874E-3A77-EC49-6389-8A3962F53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6E34E9-24E6-5155-9944-FB9464B55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1180" y="2230151"/>
            <a:ext cx="4996070" cy="2865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623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E1208-8205-B279-31C9-4BC0ADC26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704" y="2191578"/>
            <a:ext cx="11618844" cy="2474843"/>
          </a:xfrm>
        </p:spPr>
        <p:txBody>
          <a:bodyPr>
            <a:normAutofit/>
          </a:bodyPr>
          <a:lstStyle/>
          <a:p>
            <a:pPr algn="ctr"/>
            <a:r>
              <a:rPr 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did the development of logical reasoning, scientific methods, and mechanical calculators contribute to the idea that computers could perform intelligent tasks?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181416-5983-2B5C-C320-50A954048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972114-FCCD-3B9F-FE70-EC0DAB127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3213E9-126D-EBF4-AFBB-8AF452914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3061" y="4430506"/>
            <a:ext cx="1938130" cy="193813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7393A83-7A2A-3FDD-E1F8-0A08D4E51468}"/>
              </a:ext>
            </a:extLst>
          </p:cNvPr>
          <p:cNvGrpSpPr/>
          <p:nvPr/>
        </p:nvGrpSpPr>
        <p:grpSpPr>
          <a:xfrm>
            <a:off x="1022074" y="0"/>
            <a:ext cx="10686222" cy="2668656"/>
            <a:chOff x="1022074" y="0"/>
            <a:chExt cx="10686222" cy="2668656"/>
          </a:xfrm>
        </p:grpSpPr>
        <p:sp>
          <p:nvSpPr>
            <p:cNvPr id="8" name="Explosion: 8 Points 7">
              <a:extLst>
                <a:ext uri="{FF2B5EF4-FFF2-40B4-BE49-F238E27FC236}">
                  <a16:creationId xmlns:a16="http://schemas.microsoft.com/office/drawing/2014/main" id="{21F0A71D-E75F-E980-43EE-9017CD1AE895}"/>
                </a:ext>
              </a:extLst>
            </p:cNvPr>
            <p:cNvSpPr/>
            <p:nvPr/>
          </p:nvSpPr>
          <p:spPr>
            <a:xfrm>
              <a:off x="1022074" y="0"/>
              <a:ext cx="10686222" cy="2668656"/>
            </a:xfrm>
            <a:prstGeom prst="irregularSeal1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03DF589-48E4-8FB6-6EF2-10B7195E02E7}"/>
                </a:ext>
              </a:extLst>
            </p:cNvPr>
            <p:cNvSpPr txBox="1"/>
            <p:nvPr/>
          </p:nvSpPr>
          <p:spPr>
            <a:xfrm>
              <a:off x="2403613" y="894730"/>
              <a:ext cx="738477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Suggested classroom discussion:</a:t>
              </a:r>
              <a:endParaRPr lang="en-US" sz="40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02125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79C0D-3762-FE25-9577-03C411049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and the Rationalist and Empiricist Traditions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122C1-573A-CC44-1793-DB91E629D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Rationalist Tradition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idea: Knowledge about the external world can be reconstructed through reason, logic, mathematics, and clear ideas.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philosophers: Plato, Pascal, Descartes, and Leibniz.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application: Early robot-planning systems represented the world using predicate calculus statements and generated plans by proving logical theorems.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concept: Newell and Simon’s Physical Symbol System Hypothesis.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 Symbols and logical representations may fail to capture the complexity of the real world, contributing to difficulties in tasks such as natural language understanding.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Empiricist Tradition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idea: Knowledge originates through sensory experience and observation of the external world.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philosophers: Aristotle, Thomas Hobbes, John Locke, and David Hume.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Associationism: Repeated experiences create associations between perceptions and ideas.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Hume’s distinction: Impressions are vivid perceptions, while ideas are less vivid mental representations.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applications: Machine learning, semantic networks, natural language understanding, and connectionist networks.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distinction: Rationalism emphasizes reason and logical representation, whereas empiricism emphasizes experience, perception, and learning through associations.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6F6C48-EB74-24F8-AB42-D0D050F30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EB367E-8E54-CC8B-D9CE-0897BDD86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777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D27D3-86E0-8064-88FF-E17AF01EA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and the Rationalist and Empiricist Traditions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D51BD-5B31-9B5A-62EC-94086A49F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Bayes and the Mathematical Treatment of Uncertainty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Reverend Thomas Bayes developed a mathematical approach to reasoning about probability.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Bayes’ theorem provides a formal way to update the probability of a cause given observed evidence.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applications: Bayesian belief networks, medical diagnosis, machine learning, and natural language understanding.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Immanuel Kant: A Synthesis of Both Traditions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Kant was influenced by both the rationalist tradition and David Hume’s empiricism.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priori knowledge: Knowledge contributed by reason, independently of particular experiences.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posteriori knowledge: Knowledge derived from experience.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Kant argued that knowledge requires both sensory experience and the mind’s active organization of that experience.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 ideas influenced cognitive psychology, constructivist epistemology, and modern AI research.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Relevance to Modern Artificial Intelligence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Rationalist approach: Symbolic reasoning, logic-based planning, and knowledge representation.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Empiricist approach: Machine learning, association-based learning, and probabilistic inference.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perspective: Intelligent systems can use structured reasoning while learning from observed data and experience.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takeaway: The rationalist and empiricist traditions provide complementary foundations for understanding how AI systems represent knowledge, reason, and learn.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09755E-3182-54A7-39B2-60E74FA70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1AF880-0551-E82E-348E-A12EDBC2B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926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D8412-C9F7-2AE3-EEB6-3B52DAEC5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AI: History and Applications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(1.1.3 The Development of Formal Logic)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F1F04-F5C2-6D87-C52C-DE8CE78A6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Calculus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Philosophicus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Graph Theory: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Gottfried Wilhelm von Leibniz (1887):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Introduced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Calculus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Philosophicus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—the first system of formal logic and proposed a machine for automating its tasks.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Leonhard Euler (1735):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Analyzed the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"Bridges of Königsberg"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problem, introducing Graph Theory to abstractly represent relationships and discrete steps in computation.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Space Search in AI: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 possible stages of a problem solution.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 inferences, moves in a game, or other steps in a problem solution.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Space Graphs: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a tool for measuring problem structure/complexity and analyzing solution efficiency, correctness, and generality.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698C79-8571-F95A-2FB6-2FDD5114E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A372C6-F137-AC1F-285D-BFA08BEFA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166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5FBDB-279E-4470-1271-90CB63E39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Charles Babbage (1791–1871):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 Engine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(special-purpose for polynomial functions)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Engine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(general-purpose programmable machine).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Presaged modern computer architecture: separation of memory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"store"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processor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"mill"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digital operation, and programmability using punched cards.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 Lovelace (1815–1852) &amp; Symbol Abstraction: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"The Analytical Engine weaves algebraical patterns just as the Jacquard loom weaves flowers and leaves."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Highlighted the treatment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algebraic patterns as entities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can be mechanically manipulated without concern for particular numerical values (Aristotle &amp; Leibniz's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"abstraction and manipulation of form"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9170A5-E6D5-A8D7-DEFC-1D4A7004B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06F812-6EEF-8AA6-2427-75D81C21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14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BCC84E7-63A2-A16E-B815-B1AA7F3559AC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AI: History and Applications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(1.1.3 The Development of Formal Logic)</a:t>
            </a:r>
          </a:p>
        </p:txBody>
      </p:sp>
    </p:spTree>
    <p:extLst>
      <p:ext uri="{BB962C8B-B14F-4D97-AF65-F5344CB8AC3E}">
        <p14:creationId xmlns:p14="http://schemas.microsoft.com/office/powerpoint/2010/main" val="1865474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FC37EE-3512-5DC5-A6FF-27EE6FF3E1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lvl="0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Formalization of Logic: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George Boole (1854 - 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 Investigation of the Laws of Thought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Formalized logic into binary algebra using three operators (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OR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NOT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with the special law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(values restricted to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pPr lvl="1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Gottlob Frege (1879 - 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Foundations of Arithmetic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Created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First-Order Predicate Calculus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—providing quantified variables, functions, and propositions for AI representation (Chapter 2).</a:t>
                </a:r>
              </a:p>
              <a:p>
                <a:pPr lvl="1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Whitehead &amp; Russell (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Principia Mathematica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&amp; Alfred Tarski: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Syntactic string manipulation for proofs without reliance on intuition.</a:t>
                </a:r>
              </a:p>
              <a:p>
                <a:pPr lvl="2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Tarski's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Theory of Reference &amp; Formal Semantics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linking logical expressions to the physical world.</a:t>
                </a:r>
              </a:p>
              <a:p>
                <a:pPr lvl="0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Symbiosis of AI and Digital Computers: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1940s digital computers provided memory and processing power to empirically test formal reasoning systems.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Established the core AI paradigm: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Intelligence as a form of Information Processing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FC37EE-3512-5DC5-A6FF-27EE6FF3E1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BB17A2-69B0-1E15-DC45-BFD627FD9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E13AC8-133C-8D9F-6587-B1F39AB59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15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5161881-A74E-93A3-5F28-2FC4946EA7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AI: History and Applications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(1.1.3 The Development of Formal Logic)</a:t>
            </a:r>
          </a:p>
        </p:txBody>
      </p:sp>
    </p:spTree>
    <p:extLst>
      <p:ext uri="{BB962C8B-B14F-4D97-AF65-F5344CB8AC3E}">
        <p14:creationId xmlns:p14="http://schemas.microsoft.com/office/powerpoint/2010/main" val="35967584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FB400-99EE-CFC7-34CC-94E3367BB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5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Eden to ENIAC: Attitudes toward Intelligence, Knowledge, and Human Artifice Prometheus speaks of the fruits of his transgression against the gods of Olympus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E4A1416-DEF8-2DF9-0069-FAF79798C6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9922" y="2296525"/>
            <a:ext cx="7292156" cy="2663101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324B80-80D2-DCED-9658-3FD682A23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F0B68B-7035-9058-B88B-B4D2AD6E6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5931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1D432-6E41-9B38-F636-BB009C449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Turing Test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29B68AA-29FB-2D61-33C2-E2BEC442C5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2400" y="1446990"/>
            <a:ext cx="7923261" cy="460594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79B6FD-922E-FF1C-1E77-5ADCA5F69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03AB1B-706A-8422-606D-0791F4303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2886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74136-4BD6-768C-D75C-C642EE820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Turing Test(The Imitation Game)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62FBF-E01C-1F9C-CED0-CFE58D9AC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Empirical Test of Intelligence: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by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Alan Turing (1950)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"Computing Machinery and Intelligence"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Replaced ambiguous questions 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"Can machines think?"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with a practical, empirical evaluation.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Imitation Game Setup: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Participants: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Human Interrogator, Human Subject, and Machine (placed in separate rooms).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Solely text-based communication (e.g., terminal/chat) to prevent physical bias.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Criteria: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the interrogator cannot distinguish the computer from the human based on its responses, the machine is deemed intelligent.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Standard: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Evaluates behavior in response to questions without philosophical debate over "true" thinking.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Bypasses Internal Debates: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Avoids questions regarding consciousness or internal brain-like processes.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Eliminates Physical Bias: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Directs focus strictly on answer content rather than appearance or voice.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C89AAF-7F83-F4C3-6E2E-EE251E6FE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4B0B1C-6AC3-F689-B97D-DE74E01F0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0222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59A2D-DE60-FE44-F019-2B152E557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Turing Test (Practical Evaluation &amp; Major Criticisms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9D7C2-FCE2-BE05-4BBF-47F795A25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in Modern AI: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Serves as a foundation for evaluating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Expert Systems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blind performance comparisons against human experts.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Criticisms &amp; Vulnerabilities: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Symbolic Bias: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Focuses exclusively on text/symbolic processing; neglects perceptual skills and physical/manual dexterity (robotics).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Human-Centric Constraint: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Unnecessarily forces machine intelligence into a human mold (e.g., requiring machines to intentionally make arithmetic errors to appear human).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Distraction from Core Science (Ford &amp; Hayes, 1995):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Chasing the imitation game can distract researchers from developing general theories of intelligence and practical problem-solving tools.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36A9AC-AD78-2598-CABA-560D68DB6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2DC54E-8676-8A45-AA20-3CAC3A16C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7320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C9AFA-738A-E75C-2B78-71C871792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Turing Test (Philosophical Objections &amp; Behavioral Complexity)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1DBBC-B034-4969-02CD-BF55571BE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Countering Historical Objections: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Lady Lovelace’s Objection: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Computers can only do what they are programmed to do (cannot be original).</a:t>
            </a:r>
          </a:p>
          <a:p>
            <a:pPr lvl="2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Counter: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Diagnostic Expert Systems frequently reach conclusions unanticipated by their designers.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Argument from Informality of Behavior: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Formal rules cannot prescribe action for every possible real-world scenario.</a:t>
            </a:r>
          </a:p>
          <a:p>
            <a:pPr lvl="2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Counter: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Flexible architectures (production systems, pattern matchers, neural networks) allow small rule sets to handle dynamic situations.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Herbert Simon’s Ant Architecture (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Sciences of the Artificial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1981):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ant’s path seems complex, but its internal rules are simple; the complexity arises from its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Insight: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Complex intelligent behavior often emerges from simple mechanisms interacting with a rich, complex environment/culture.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A57AA-2BD3-022E-DD02-DF179E93A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2F1BF0-AA29-13BA-8FD2-E52C0B865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2665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6A8D3-FEEA-8515-81F6-AD5465B4D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Biological and Social Models of Intelligence: Agents Theories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4B279-429E-4962-11AC-454D6058B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Philosophical Critique of Rationalism.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Critique of GOFAI (Good Old Fashioned AI):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AI assumes intelligence is purely logical reasoning and symbolic manipulation (rationalist tradition: Plato, Descartes, Leibniz, Turing).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Ignores the physical, social, and cultural context in which intelligence develops.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Philosophical Foundations: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Ludwig Wittgenstein (1953):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Meaning in language is not objective; it is situated in a human and cultural context (e.g., the physical and cultural definition of a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"chair"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Husserl &amp; Heidegger (Phenomenology):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Defined intelligence as knowing how to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cope and survive in a dynamic world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Lebenswelt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rather than storing abstract logical propositions.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A38DEB-C459-2611-7FF6-3F299B7B2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F00E4F-B4B3-FF06-2DCE-CA7BCC801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5789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A090C-7DA6-C1FD-09A1-04822B2E0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Biological and Social Models of Intelligence: Agents Theories (Connectionist, Evolutionary &amp; Social Models)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A93638-CBB8-C367-C965-0B052153D9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lvl="0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Biological Paradigms: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Connectionist Models (Neural Networks):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Model the architecture of the physical brain; knowledge is captured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implicitly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connection patterns rather than explicit logical sentences.</a:t>
                </a:r>
              </a:p>
              <a:p>
                <a:pPr lvl="1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Artificial Life &amp; Genetic Algorithms: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Apply biological evolution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𝑠𝑢𝑟𝑣𝑖𝑣𝑎𝑙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𝑡ℎ𝑒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𝑓𝑖𝑡𝑡𝑒𝑠𝑡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to evolve populations of candidate solutions to complex problems.</a:t>
                </a:r>
              </a:p>
              <a:p>
                <a:pPr lvl="0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Social Systems &amp; Collective Intelligence: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Collective Behavior: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Global intelligence emerges from decentralized interactions (e.g., New York bakery bread distribution, stock market pricing, multi-agent scientific research).</a:t>
                </a:r>
              </a:p>
              <a:p>
                <a:pPr lvl="1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Emergence: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collective behavior of interacting members produces problem-solving capabilities beyond any single individual.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A93638-CBB8-C367-C965-0B052153D9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081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57B0C7-D499-D3D9-629A-FBC54C827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8FCB7E-3AF0-848F-2668-648CFD3BC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5471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3171A-05A6-A243-A598-E8F82DC05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Biological and Social Models of Intelligence: Agents Theories (Agent Characteristics &amp; Architecture)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61A81-713E-FB0F-5A6E-7AECAB9149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Main Themes of Intelligent Agents: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/ Semi-autonomous: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Independent problem-solving with localized responsibilities.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Situated: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Sensitive to its local environment with limited global knowledge.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Interactional: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Cooperate as a "society" with distributed knowledge and skills.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Coordinated interactions to achieve collective problem solving.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intelligence is greater than the sum of its individual agent parts.</a:t>
            </a:r>
          </a:p>
          <a:p>
            <a:pPr lvl="0"/>
            <a:r>
              <a:rPr lang="en-US" b="1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Agent Types:</a:t>
            </a:r>
            <a:r>
              <a:rPr lang="en-US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Rote, Coordination, Search, Learning, and Decision Agents.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Requisites for Building Agent Societies: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Structures for information representation.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Strategies for searching alternative solutions.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Architectures supporting agent interaction.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B11CF5-290E-A476-79CE-00DCE9BF6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576BFE-88C0-DBC2-BC29-42D2ABD0C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7221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36060-AEAE-B3F9-F9DC-DAC878F54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AI Application Areas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B3107-DD0D-F033-9106-D570E22AC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Core Foundations &amp; Game Playing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Fundamental Concerns of AI: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Representation (Chapter 2):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Capturing the full range of qualitative knowledge in a computer-manipulable language (e.g., Predicate Calculus, Commonsense Reasoning).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(Chapters 3 &amp; 4):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Systematically exploring a space of problem states (alternative moves or intermediate reasoning steps).</a:t>
            </a:r>
          </a:p>
          <a:p>
            <a:pPr lvl="2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Newell &amp; Simon (1976):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Search is the essential basis of human problem solving (e.g., chess moves, medical diagnoses).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 1.2.1: Game Playing: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Games as AI Research Testbeds?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Well-defined Rules: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Easy to generate search spaces without real-world ambiguities.</a:t>
            </a:r>
          </a:p>
          <a:p>
            <a:pPr lvl="2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Representation: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Board configurations map directly onto computers.</a:t>
            </a:r>
          </a:p>
          <a:p>
            <a:pPr lvl="2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&amp; Ethical: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financial or ethical risk during testing.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Heuristics in Game Search: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Useful, practical, but potentially fallible problem-solving strategies (e.g., castling to protect the king in chess).</a:t>
            </a:r>
          </a:p>
          <a:p>
            <a:pPr lvl="2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navigate extremely large, complex state spaces by focusing on the most promising moves.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Milestones in Game AI: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World championship successes 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Backgammon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2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Checkers (2007):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Full state space mapped out, making the game completely solved and deterministic from move one!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8E71FE-ED89-B06A-451D-A7E563FC5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951D8C-8240-E3D5-56DD-996BB8099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845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BB013-9C4E-1DE6-7704-943C89B4B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Reasoning and Theorem Proving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F0157-9F47-3DE8-3F70-E1CB646DE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lvl="0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Significance &amp; Foundations: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Oldest Branch of AI: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Roots trace back to Leibniz, Babbage, Russell &amp; Whitehead, and Newell &amp; Simon’s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 Theorist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Problem Solver (GPS)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Contributions: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Driven early development 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Algorithms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Predicate Calculus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logic programming languages like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Prolog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Use Formal Logic?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Rigor &amp; Generality: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 is a formal system, making it ideal for computer automation.</a:t>
            </a:r>
          </a:p>
          <a:p>
            <a:pPr lvl="1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Solving Strategy: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Problems are represented as logical axioms, and solutions are derived as theorems to be proved.</a:t>
            </a:r>
          </a:p>
          <a:p>
            <a:pPr lvl="0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Challenges &amp; Solution Evolution: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Combinatorial Explosion: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Early theorem provers generated infinite irrelevant theorems due to huge search spaces without guidance.</a:t>
            </a:r>
          </a:p>
          <a:p>
            <a:pPr lvl="1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Syntactic Heuristics: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Modern systems use powerful heuristics based on logical syntax to search efficiently without relying solely on ad-hoc human tricks.</a:t>
            </a:r>
          </a:p>
          <a:p>
            <a:pPr lvl="0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Applications &amp; Modern Role: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Applications: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Hardware design verification, software program verification, and complex system control.</a:t>
            </a:r>
          </a:p>
          <a:p>
            <a:pPr lvl="1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Assistants (Human-AI Collaboration):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Role: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Decomposes large problems and guides overall proof strategy.</a:t>
            </a:r>
          </a:p>
          <a:p>
            <a:pPr lvl="2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Prover Role: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Verifies lemmas, sub-proofs, and formal mechanical steps (e.g., Boyer-Moore, Bundy).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EFC43D-4188-2221-08E8-26888B0E1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7EBCF4-7536-DF0F-58FB-4D2C864E9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0430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34579-B60E-140A-CDFB-1926DC47A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Expert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7A592-7797-CEB6-13D2-E87931110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lvl="0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Insight &amp; Architecture: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Domain-Specific Knowledge: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 performance requires deep domain knowledge (theory + heuristics) rather than general problem-solving alone.</a:t>
            </a:r>
          </a:p>
          <a:p>
            <a:pPr lvl="1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Engineering: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Developed through collaboration between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Expert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(physician, geologist) and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Engineer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(AI specialist).</a:t>
            </a:r>
          </a:p>
          <a:p>
            <a:pPr lvl="1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Iterative Refinement: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Program behavior is continuously evaluated and modified by experts using sample problems.</a:t>
            </a:r>
          </a:p>
          <a:p>
            <a:pPr lvl="0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Pioneering Expert Systems: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DENDRAL (Late 1960s):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Inferred organic molecular structures; pruned massive search spaces using organic chemistry heuristics.</a:t>
            </a:r>
          </a:p>
          <a:p>
            <a:pPr lvl="1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MYCIN (Mid-1970s):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Diagnosed blood infections and meningitis; established standard methodology (reasoning under uncertainty, explanation facilities).</a:t>
            </a:r>
          </a:p>
          <a:p>
            <a:pPr lvl="1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PROSPECTOR &amp; XCON (1980s):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PROSPECTOR located mineral deposits; XCON configured DEC VAX computer architectures.</a:t>
            </a:r>
          </a:p>
          <a:p>
            <a:pPr lvl="0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Limitations &amp; Deficiencies: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Deep Knowledge: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Relies on surface-level rules (e.g., MYCIN lacks underlying human physiology models).</a:t>
            </a:r>
          </a:p>
          <a:p>
            <a:pPr lvl="1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Robustness: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Cannot fall back on "first principles" when encountering novel problems outside its rule set.</a:t>
            </a:r>
          </a:p>
          <a:p>
            <a:pPr lvl="1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Shallow Explanations: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Restricted to tracing executed rule steps rather than explaining fundamental underlying principles.</a:t>
            </a:r>
          </a:p>
          <a:p>
            <a:pPr lvl="1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Challenges: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Hard to formally verify correctness in critical systems (e.g., medical diagnosis, aviation).</a:t>
            </a:r>
          </a:p>
          <a:p>
            <a:pPr lvl="1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Performance: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Limited learning from experience without manual updates by knowledge engineers.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8349E9-131C-CE02-17C7-EA86D8837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6C8ED4-1B09-82E9-CDEA-E6CBA39E9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3311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502F663-2FA4-4716-9C0D-04CA9D6B5B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1141" y="783143"/>
            <a:ext cx="5452034" cy="30454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E7AC65-EB0F-0E95-8A29-A263C7373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684D02-8DB9-154A-5E0D-7255EE318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27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1631D08-DE2A-7655-5225-CA4F32785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8656" y="3297742"/>
            <a:ext cx="5161101" cy="288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6495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8E4D6-0B27-F8D2-AB31-BFA42CB20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Understanding and Semantics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720B49-2A26-BED1-5659-C91F70287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B16141-AC93-6D4B-8BA7-04F948B74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28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34111C-7D3D-5AA6-54E8-5D6E320F0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9815" y="2199860"/>
            <a:ext cx="5114925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4465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94C67-DB66-1011-2FC3-ACB395CE6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Understanding and Semantics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80A4E-C27C-38F5-B105-4E1F5498A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Objective &amp; Challenge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Creating programs capable of understanding and generating human language to enhance human-computer interaction.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Reality: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Highly successful in restricted/constrained domains, but broad human-like flexibility remains an open challenge in AI.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Beyond Syntax: The Role of Context &amp; Domain Knowledge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comprehension requires much more than grammatical parsing and dictionary lookups.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Depends 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knowledge, idioms, and contextual reasoning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resolve ambiguity and omissions in speech.</a:t>
            </a:r>
          </a:p>
          <a:p>
            <a:pPr lvl="1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Textbook 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"With none down in the top of the ninth and the go-ahead run at second..."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(Meaningless without domain knowledge of baseball rules).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Micro-World Methodology (SHRDLU)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Winograd’s SHRDLU (1973):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Conversed, answered queries, and planned actions within a constrained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"Blocks World"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(manipulating colored cubes and pyramids).</a:t>
            </a:r>
          </a:p>
          <a:p>
            <a:pPr lvl="1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Simple representational techniques could not generalize or scale to complex real-world domains.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NLU Techniques &amp; Current Status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Representation: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Modern systems extend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Networks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structure domain-specific knowledge.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Stochastic Models: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statistical/probabilistic models to analyze word occurrences, syntax, and usage patterns.</a:t>
            </a:r>
          </a:p>
          <a:p>
            <a:pPr lvl="1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Takeaway: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Full computational understanding of natural language remains an active area of research.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44118D-EAEA-5398-3DC3-4A88CDDDA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83EB89-F690-888D-10CC-770D0FDEA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7301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916E2-FEA1-0CBA-65FE-0D52D65B7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Modeling Human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511B7-6794-14C3-6E9C-7B93F97C8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Performance vs. Simulation in AI</a:t>
            </a:r>
          </a:p>
          <a:p>
            <a:pPr lvl="0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Goal-Oriented Engineering: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Most AI systems focus on solving complex problems effectively rather than duplicating human internal mental processes.</a:t>
            </a:r>
          </a:p>
          <a:p>
            <a:pPr lvl="0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Non-Human Strategies: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performance is the main criterion, non-human approaches often outperform human methods.</a:t>
            </a:r>
          </a:p>
          <a:p>
            <a:pPr lvl="1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Example: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DeepMind’s AlphaZero / Stockfish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evaluate millions of positions per second using pure search and neural network evaluations—radically different from how human grandmasters think.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Computational Metaphor for Cognitive Psychology</a:t>
            </a:r>
          </a:p>
          <a:p>
            <a:pPr lvl="0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New Theoretical Vocabulary: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Computer science provides psychologists with a precise framework to formulate models of human thought.</a:t>
            </a:r>
          </a:p>
          <a:p>
            <a:pPr lvl="0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Overcoming Behaviorism: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Replaces vague early psychological descriptions and moves past strict behaviorism by treating the human mind as an information-processing system.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Empirical Testing &amp; Cognitive Science</a:t>
            </a:r>
          </a:p>
          <a:p>
            <a:pPr lvl="0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Executable Theories: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Implementing cognitive models as software allows researchers to empirically test, critique, and refine theories of human intelligence.</a:t>
            </a:r>
          </a:p>
          <a:p>
            <a:pPr lvl="0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 to Cognitive Science: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Connects AI and Cognitive Psychology to explore mental architecture.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Modern AI Connection (2026 Perspective)</a:t>
            </a:r>
          </a:p>
          <a:p>
            <a:pPr lvl="0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Cognitive Architectures (e.g., ACT-R, SOAR):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today to simulate human pilot fatigue or driver reaction times in safety testing.</a:t>
            </a:r>
          </a:p>
          <a:p>
            <a:pPr lvl="0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LLMs vs. Human Cognition: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Models like GPT-4o or Claude 3.5 show high performance on reasoning tasks, yet cognitive scientists actively debate whether their internal mechanisms mirror human mental models or remain statistical pattern matchers.</a:t>
            </a:r>
          </a:p>
          <a:p>
            <a:pPr algn="just"/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EA6E9F-26C3-D977-5B68-70165FD2F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8129C4-38F3-3CDA-029D-42F2F69C9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1608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E1CF5-A1F6-2091-F857-28962AF35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Modeling Human Performance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93F1904-70F4-93EA-1AA2-81D815884A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1096" y="1825625"/>
            <a:ext cx="7789807" cy="435133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1F646C-DDD5-7DB4-7D78-3A34EEF75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D5DE46-C56E-9C49-8DC2-2D2F65920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2434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4F86A-ED59-20C8-ED2D-1B219899F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and Robotics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E05376-DC4B-40C7-0DA3-D93F1A1813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Core Concept of AI Planning</a:t>
                </a:r>
              </a:p>
              <a:p>
                <a:pPr lvl="0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Goal: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Finding an optimal sequence of atomic actions to accomplish a higher-level task (e.g., navigating an obstacle-filled room).</a:t>
                </a:r>
              </a:p>
              <a:p>
                <a:pPr lvl="0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Search Space Challenge: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Even basic movements create a massive combinatorial space of possible trajectories that require spatial knowledge representation and heuristic search.</a:t>
                </a:r>
              </a:p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Key Strategies &amp; Real-World Challenges</a:t>
                </a:r>
              </a:p>
              <a:p>
                <a:pPr lvl="0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Hierarchical Problem Decomposition: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Breaking complex goals into independent subproblems/subplans (e.g., planning a trip: Flight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Airport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Local Transport).</a:t>
                </a:r>
              </a:p>
              <a:p>
                <a:pPr lvl="0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Dynamic Perception &amp; Replanning: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Robots must continuously sense, correct errors, and adapt their plans when encountering unexpected obstacles.</a:t>
                </a:r>
              </a:p>
              <a:p>
                <a:pPr lvl="0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Agent-Based Architecture: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Moving from monolithic planning to coordinated semi-autonomous agents (Rodney Brooks, Sebastian Thrun).</a:t>
                </a:r>
              </a:p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Today’s Real-World Examples (Connecting Concepts to 2026 AI)</a:t>
                </a:r>
              </a:p>
              <a:p>
                <a:pPr lvl="0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Self-Driving Vehicles (Tesla / Waymo):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Real-time trajectory planning &amp; dynamic obstacle replanning.</a:t>
                </a:r>
              </a:p>
              <a:p>
                <a:pPr lvl="0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Warehouse &amp; Logistics Automation (Amazon Robotics):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Hierarchical multi-agent pathfinding &amp; task decomposition.</a:t>
                </a:r>
              </a:p>
              <a:p>
                <a:pPr lvl="0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Space Exploration (NASA Perseverance Rover):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Autonomous terrain navigation under severe signal delay.</a:t>
                </a:r>
              </a:p>
              <a:p>
                <a:pPr lvl="0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Humanoid Robotics (Boston Dynamics / Tesla Optimus):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Bipedal motion control and adaptive physics-based planning.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E05376-DC4B-40C7-0DA3-D93F1A1813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4" t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1C57E3-926E-5379-0A75-D8E9405F2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A57355-80BE-B42F-873F-576E3ED09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7323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5F256-CC37-9862-4D6E-4569EC272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and Robotics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416B028-2EE5-B472-6876-334EFA89F7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7926" y="1825625"/>
            <a:ext cx="7796147" cy="435133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62A4CC-CD7E-BB79-60C0-D65B8D22A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11A073-DB5F-0055-634B-896045F40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1879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DEE13-2163-5CB8-6727-E5759D29B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Languages and Environments for AI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0C59EF-4C9A-6933-F364-0F5D25E6F9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AI as a Catalyst for Software Engineering</a:t>
                </a:r>
              </a:p>
              <a:p>
                <a:pPr lvl="0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Software Challenge: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Large program size, rapid prototyping needs, huge search spaces, and unpredictable heuristic behavior forced AI programmers to innovate.</a:t>
                </a:r>
              </a:p>
              <a:p>
                <a:pPr lvl="0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Key Innovations: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Knowledge-structuring techniques, Object-Oriented Programming (OOP), dynamic memory allocation, and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Trace Packages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(tools to inspect complex search execution).</a:t>
                </a:r>
              </a:p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Traditional Language Paradigms (Luger's View)</a:t>
                </a:r>
              </a:p>
              <a:p>
                <a:pPr lvl="0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Lisp (List Processing):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Functional language designed for symbolic processing and dynamic code execution.</a:t>
                </a:r>
              </a:p>
              <a:p>
                <a:pPr lvl="0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Prolog (Programming in Logic):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Declarative language built on predicate calculus and automatic pattern matching (unification).</a:t>
                </a:r>
              </a:p>
              <a:p>
                <a:pPr lvl="0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Java &amp; C++: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Industrial OOP languages used for building large-scale, production-ready AI applications.</a:t>
                </a:r>
              </a:p>
              <a:p>
                <a:pPr lvl="0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Luger's Golden Rule: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"The good professional knows all her tools."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Avoid "language wars" and select the tool fitting the problem representation.</a:t>
                </a:r>
              </a:p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Today’s Real-World Connection (2026 Perspective)</a:t>
                </a:r>
              </a:p>
              <a:p>
                <a:pPr lvl="0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Python Ecosystem: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dominant modern language for AI due to high-level abstractions (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PyTorch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TensorFlow, Hugging Face).</a:t>
                </a:r>
              </a:p>
              <a:p>
                <a:pPr lvl="0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C++ &amp; CUDA Backends: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Low-level languages powering high-performance GPU tensor computing under Python APIs.</a:t>
                </a:r>
              </a:p>
              <a:p>
                <a:pPr lvl="0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Evolution: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Symbolic AI (Lisp/Prolog)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Object-Oriented AI (Java/C++)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Tensor &amp; Neural AI (Python/CUDA).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0C59EF-4C9A-6933-F364-0F5D25E6F9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4" t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851F3F-A0CD-5C6D-3A2B-8944E7C03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85BCA3-CC7F-4A2E-B6D2-30FB2D0DF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6164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A12FE-DA6D-B074-C9E5-A230766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Languages and Environments for AI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761B7CA-401E-BBA6-D7EC-940488A8D3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7926" y="1825625"/>
            <a:ext cx="7796147" cy="435133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73E13A-8C76-4920-3C1D-33B726D9F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59670B-105C-33EB-97E1-836D92173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4349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40AE7-3FE0-11C4-6327-EB374CD44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027E1-097A-2C2A-39C9-A7047EDA8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 1.2.8: Machine Learning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Artificial Intelligence |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Textbook: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George F. Luger (Chapter 1)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The Core Problem &amp; Motivation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Expert Systems: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extensive computations to solve complex problems.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Limitation: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given the exact same problem a second time, they do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remember the solution and repeat the same computations from scratch.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of Machine Learning: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programs that learn autonomously from experience, analogies, examples, instructions, or reward/punishment feedback.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408101-8E84-965F-C9AA-0F4BC865C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110674-842B-EF1B-A8AE-16DF848F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2340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971BA-7BBE-A362-5580-2DEA43E13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83986-2844-715A-5F60-523445877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Key Early Milestones in Machine Learning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 — Automated Mathematician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Lenat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1977, 1982)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Discovered new mathematical laws and theorems.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worked: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Started with basic set theory axioms and used heuristics to induce concepts like cardinality, arithmetic, and number theory.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 Induction &amp; ID3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(Winston 1975 / Quinlan 1986)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Winston: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Induced structural concepts (such as defining an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"Arch"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from visual blocks-world examples.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ID3 Algorithm: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extracted general decision patterns and classification rules from training data.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Meta-DENDRAL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(Organic Chemistry)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Learned interpretation rules for mass spectrographic data.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Showed that machine learning can automatically construct rules for expert systems from real-world scientific data.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Takeaway for Students</a:t>
            </a: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"Machine Learning transforms AI from static, rule-following programs into adaptive systems capable of general problem-solving in realistic domains."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67FCB0-4AF1-CE7C-5D5D-48D601178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E79ACF-68A9-9DE8-5491-C5E7FDC23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0225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520B879-5200-9665-E92A-952C126135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53732" y="536083"/>
            <a:ext cx="4484535" cy="618539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A5623C-CF14-625D-3F77-DDA5BF28F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CE6C6D-1CDC-2D7D-E316-CC25290CB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1907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C7610-D3D1-F547-4A34-ADFEF302A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Alternative Representations: Neural Nets and Genetic Algorithms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33C6F37-9690-131B-1EAA-0E5B076074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3864" y="2007703"/>
            <a:ext cx="9924271" cy="3906079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12AD34-98C4-79B2-191D-50EB28D11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43F146-C97D-5CB1-D5CB-0D8A55704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303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6AA28-0074-6117-45FD-D4A966AFB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Alternative Representations: Neural Nets and Genetic Algorithms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A00777-288C-B4E1-BD81-11CAA7B697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The Paradigm Shift: From Explicit Logic to Bio-Inspired AI</a:t>
                </a:r>
              </a:p>
              <a:p>
                <a:pPr lvl="0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Symbolic AI Limitation: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Traditional AI relies on explicitly coded knowledge and sequential search, which can be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brittle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sensitive to noisy real-world data.</a:t>
                </a:r>
              </a:p>
              <a:p>
                <a:pPr lvl="0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Biological Alternative: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Instead of hand-crafting rules, we build models inspired by the physical architecture of the human brain (Neural Networks) and natural evolution (Genetic Algorithms &amp; Artificial Life).</a:t>
                </a:r>
              </a:p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Neural Architectures &amp; Distributed Processing</a:t>
                </a:r>
              </a:p>
              <a:p>
                <a:pPr lvl="0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Biological Abstraction: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Dendrites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receive input signals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Cell Body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aggregates inputs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Axon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fires an impulse across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Synapses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(excitatory/inhibitory) if a threshold is met.</a:t>
                </a:r>
              </a:p>
              <a:p>
                <a:pPr lvl="0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Key Computational Features: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Parallel &amp; Distributed Processing: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Knowledge is stored implicitly across network weights, not in centralized logical sentences.</a:t>
                </a:r>
              </a:p>
              <a:p>
                <a:pPr lvl="1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Robustness to Noise: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Excels at partial matching of incomplete or degraded data (e.g., recognizing a face in a dark room or hearing speech in a noisy environment).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A00777-288C-B4E1-BD81-11CAA7B697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2941" r="-464" b="-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4655F-0F46-E656-BDAE-ABFA1D71D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753016-8218-8368-A201-C7DFA8D63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9340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5D8B9-BE7B-EBBF-AD35-8212EAFF6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Alternative Representations: Neural Nets and Genetic Algorithms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70034-0158-D1F6-4E6B-BE32B923C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Evolutionary Computing &amp; Massive Parallelism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Genetic Algorithms &amp; Artificial Life: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 solutions are evolved across generations using biological operators: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Crossover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(recombining successful sub-solutions)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Survival of the fittest: Fitness evaluation drives generations toward optimal problem-solving states.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Solving the "Search Slowdown" Paradox: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Hillis (1985) Insight: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Sequential computers slow down as knowledge bases grow; humans get faster.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Massively parallel bio-inspired architectures process vast spaces concurrently, mirroring the very substrate that evolved human intelligence.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Modern Real-World AI Connection (2026 Perspective)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&amp; LLMs: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Modern Transformers (GPT-4o, Gemini) are massive expansions of these distributed neural representations.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 &amp; Evolutionary AI: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in robotics (Boston Dynamics) and hyperparameter optimization to "evolve" model architectures automatically.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2005B0-E804-B766-3516-06B12C2AB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55D7F2-8E03-02C7-22BD-89EFF873C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3925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71714-803D-E1CB-7342-922C2F484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and Philosophy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4A4B7-824E-E0B0-9690-6DE94B2D9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 Two-Way Intellectual Relationship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Reciprocal Contribution: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is not merely a consumer of philosophy, mathematics, and logic; it active contributes back to these disciplines by testing foundational questions.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Philosophical Questions: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intelligence, and how do we formalize knowledge?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domain knowledge connect to problem-solving skill?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knowing what is true (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Theoria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relate to knowing how to perform (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Praxis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AI Programs as Empirical Experiments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Computational Laboratory: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operationalizes philosophical theories into concrete code, running programs as experiments to test if representations and algorithms are sufficient for intelligent behavior.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Physical Symbol System Hypothesis (Newell &amp; Simon, 1976):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"A physical symbol system has the necessary and sufficient means for general intelligent action."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Takeaway: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Proposes that symbol manipulation alone is both necessary and adequate to produce physical intelligence.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4A6666-91A0-DF52-30AE-ACD9A6678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295ED8-1AEA-06BB-89B1-EFBBFAEFD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0638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37AB6-CA6C-D675-827C-1348EA632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and Philosophy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BFE8D-2724-9477-0DAF-11F1C92E4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Deep Philosophical Questions in Application Domains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&amp; Semantics: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Well-formed syntax is insufficient; true language comprehension requires imputing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context.</a:t>
            </a:r>
          </a:p>
          <a:p>
            <a:pPr lvl="1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Philosophical Inquiry: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What constitutes "meaning"? Does genuine interpretation require intentionality or responsibility?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Broader Domain Ethics &amp; Epistemology: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Building expert systems, vision models, and machine learning algorithms forces us to re-examine perception, learning, and human-computer cooperation.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Modern AI Connection (2026 Perspective)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Beyond Pure Symbol Systems: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Modern Large Language Models (LLMs) challenge Newell &amp; Simon's hypothesis by generating rich, seemingly intelligent behaviors through high-dimensional statistical vectors rather than purely explicit symbolic rules.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Safety &amp; Alignment: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Questions regarding machine responsibility, interpretation, and moral agency are no longer just abstract philosophical debates—they are critical engineering requirements in today's frontier AI deployment.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BEA037-9A90-9E31-D3E2-4E923F118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91AF86-1292-FE7A-681A-EF187B31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5835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796A1-124D-B5F9-14B8-0BA509A1A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Intelligence—A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F29DF-4DD0-EFF2-9782-A409D54D5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6866"/>
            <a:ext cx="10515600" cy="4976009"/>
          </a:xfrm>
        </p:spPr>
        <p:txBody>
          <a:bodyPr>
            <a:noAutofit/>
          </a:bodyPr>
          <a:lstStyle/>
          <a:p>
            <a:pPr algn="just"/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What Unifies the Field of AI?</a:t>
            </a:r>
          </a:p>
          <a:p>
            <a:pPr algn="just"/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Despite the wide diversity of applications (from medical diagnosis to autonomous vehicles), all AI systems share a core goal: </a:t>
            </a: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automating intelligent problem-solving, planning, and communication.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50" b="1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2. The 8 Defining Features of AI Systems (Luger's Synthesis)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 &amp; Pattern Recognition: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computational systems for reasoning, learning, and pattern matching rather than simple numerical calculations.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Heuristic Search: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Targets ill-defined problems that lack direct, step-by-step algorithmic solutions.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Uncertainty &amp; Incompleteness: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Operates effectively under conditions with missing, noisy, or inexact information.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Qualitative Reasoning: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Focuses on reasoning about significant qualitative features rather than purely quantitative data.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Semantics Over Pure Syntax: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Attempts to process underlying contextual meaning alongside formal structure.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"Sufficient" Solutions (Satisficing):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Produces results that are good enough rather than mathematically optimal, acknowledging computational limits.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Domain-Specific Knowledge: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Relies heavily on rich, specialized knowledge bases to tackle expert-level tasks.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Meta-Level Knowledge: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Employs reasoning about reasoning (</a:t>
            </a:r>
            <a:r>
              <a:rPr lang="en-US" sz="16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meta-knowledge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control and adapt problem-solving strategies dynamically.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B45288-A745-6C55-51AB-0D0B41B17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D5E76B-487D-424E-C418-6530DB8E9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447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FB7EF-498B-DD08-06F2-BC15EC033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Intelligence—A Summary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3E9B9-C944-3B71-4C58-3CFA4FAFE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The Big Picture: "The Pattern Which Connects"</a:t>
            </a: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"Break the pattern which connects the items of learning and you necessarily destroy all quality."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Gregory Bateson (1979)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Connecting the Concepts: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Isolated algorithms mean little on their own. Representation, search, logic, and heuristics gain true meaning only through their relationships within complete AI architectures.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Modern AI Connection (2026 Perspective)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Satisficing in Frontier Models: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Modern Large Language Models and Reinforcement Learning agents embody Luger’s points—they trade exact mathematical guarantees for flexible, "sufficient" solutions under massive uncertainty.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Meta-Reasoning Today: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Advanced agentic frameworks utilize meta-prompting and self-reflection loops to evaluate and correct their own step-by-step thinking.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36ECB8-3461-C552-029D-1822B189D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45D827-7359-F576-0B96-39C851B6F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0447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0F14D-4E4A-64F8-F672-65638677B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For Exams (CLO-I)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EB083D5-9AA3-8C39-A980-3506441A5F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37695" y="1460666"/>
            <a:ext cx="4786304" cy="526081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B2FE7E-2DDE-4BA7-6543-5E06A7EA5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PRESTON UNIVERSITY KOHAT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0BEE2C-9D57-E7D8-DDF2-B4486F40D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C929-D44F-4CCB-B3E2-AC0C1BBE950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143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</TotalTime>
  <Words>5783</Words>
  <Application>Microsoft Office PowerPoint</Application>
  <PresentationFormat>Widescreen</PresentationFormat>
  <Paragraphs>499</Paragraphs>
  <Slides>46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2" baseType="lpstr">
      <vt:lpstr>Aptos</vt:lpstr>
      <vt:lpstr>Aptos Display</vt:lpstr>
      <vt:lpstr>Arial</vt:lpstr>
      <vt:lpstr>Cambria Math</vt:lpstr>
      <vt:lpstr>Times New Roman</vt:lpstr>
      <vt:lpstr>Office Theme</vt:lpstr>
      <vt:lpstr>  ITS ROOTS AND SCOPE</vt:lpstr>
      <vt:lpstr>Chapter 1: What We Will Cover</vt:lpstr>
      <vt:lpstr>PowerPoint Presentation</vt:lpstr>
      <vt:lpstr>Artificial Intelligence: An Attempted Definition</vt:lpstr>
      <vt:lpstr>Artificial Intelligence: An Attempted Definition (Challenges in Defining Artificial Intelligence)</vt:lpstr>
      <vt:lpstr>AI: EARLY HISTORY AND APPLICATIONS</vt:lpstr>
      <vt:lpstr>Aristotle — The Philosophical Foundations of AI: A Brief History of the Foundations for AI </vt:lpstr>
      <vt:lpstr>A Brief History of the Foundations for AI (Scientific Method and Concept Learning)</vt:lpstr>
      <vt:lpstr>A Brief History of the Foundations for AI (Early Computing Machines and the Nature of Mind)</vt:lpstr>
      <vt:lpstr>How did the development of logical reasoning, scientific methods, and mechanical calculators contribute to the idea that computers could perform intelligent tasks?</vt:lpstr>
      <vt:lpstr>AI and the Rationalist and Empiricist Traditions</vt:lpstr>
      <vt:lpstr>AI and the Rationalist and Empiricist Traditions</vt:lpstr>
      <vt:lpstr>AI: History and Applications (1.1.3 The Development of Formal Logic)</vt:lpstr>
      <vt:lpstr>PowerPoint Presentation</vt:lpstr>
      <vt:lpstr>AI: History and Applications (1.1.3 The Development of Formal Logic)</vt:lpstr>
      <vt:lpstr>From Eden to ENIAC: Attitudes toward Intelligence, Knowledge, and Human Artifice Prometheus speaks of the fruits of his transgression against the gods of Olympus</vt:lpstr>
      <vt:lpstr>The Turing Test</vt:lpstr>
      <vt:lpstr>The Turing Test(The Imitation Game)</vt:lpstr>
      <vt:lpstr>The Turing Test (Practical Evaluation &amp; Major Criticisms</vt:lpstr>
      <vt:lpstr>The Turing Test (Philosophical Objections &amp; Behavioral Complexity)</vt:lpstr>
      <vt:lpstr>Biological and Social Models of Intelligence: Agents Theories</vt:lpstr>
      <vt:lpstr>Biological and Social Models of Intelligence: Agents Theories (Connectionist, Evolutionary &amp; Social Models)</vt:lpstr>
      <vt:lpstr>Biological and Social Models of Intelligence: Agents Theories (Agent Characteristics &amp; Architecture)</vt:lpstr>
      <vt:lpstr>Overview of AI Application Areas</vt:lpstr>
      <vt:lpstr>Automated Reasoning and Theorem Proving</vt:lpstr>
      <vt:lpstr>Expert Systems</vt:lpstr>
      <vt:lpstr>PowerPoint Presentation</vt:lpstr>
      <vt:lpstr>Natural Language Understanding and Semantics</vt:lpstr>
      <vt:lpstr>Natural Language Understanding and Semantics</vt:lpstr>
      <vt:lpstr>Modeling Human Performance</vt:lpstr>
      <vt:lpstr>Modeling Human Performance</vt:lpstr>
      <vt:lpstr>Planning and Robotics</vt:lpstr>
      <vt:lpstr>Planning and Robotics</vt:lpstr>
      <vt:lpstr>Languages and Environments for AI</vt:lpstr>
      <vt:lpstr>Languages and Environments for AI</vt:lpstr>
      <vt:lpstr>Machine Learning</vt:lpstr>
      <vt:lpstr>Machine Learning (Cont…)</vt:lpstr>
      <vt:lpstr>PowerPoint Presentation</vt:lpstr>
      <vt:lpstr>Alternative Representations: Neural Nets and Genetic Algorithms</vt:lpstr>
      <vt:lpstr>Alternative Representations: Neural Nets and Genetic Algorithms</vt:lpstr>
      <vt:lpstr>Alternative Representations: Neural Nets and Genetic Algorithms</vt:lpstr>
      <vt:lpstr>AI and Philosophy</vt:lpstr>
      <vt:lpstr>AI and Philosophy</vt:lpstr>
      <vt:lpstr>Artificial Intelligence—A Summary</vt:lpstr>
      <vt:lpstr>Artificial Intelligence—A Summary</vt:lpstr>
      <vt:lpstr>Practice For Exams (CLO-I)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Umar computers</dc:creator>
  <cp:lastModifiedBy>Umar computers</cp:lastModifiedBy>
  <cp:revision>5</cp:revision>
  <dcterms:created xsi:type="dcterms:W3CDTF">2026-10-19T07:16:17Z</dcterms:created>
  <dcterms:modified xsi:type="dcterms:W3CDTF">2026-10-27T06:04:52Z</dcterms:modified>
</cp:coreProperties>
</file>